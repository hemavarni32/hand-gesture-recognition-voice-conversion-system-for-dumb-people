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4"/>
  </p:notesMasterIdLst>
  <p:handoutMasterIdLst>
    <p:handoutMasterId r:id="rId15"/>
  </p:handoutMasterIdLst>
  <p:sldIdLst>
    <p:sldId id="297" r:id="rId5"/>
    <p:sldId id="317" r:id="rId6"/>
    <p:sldId id="325" r:id="rId7"/>
    <p:sldId id="324" r:id="rId8"/>
    <p:sldId id="321" r:id="rId9"/>
    <p:sldId id="326" r:id="rId10"/>
    <p:sldId id="327" r:id="rId11"/>
    <p:sldId id="319" r:id="rId12"/>
    <p:sldId id="304" r:id="rId13"/>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5388" autoAdjust="0"/>
  </p:normalViewPr>
  <p:slideViewPr>
    <p:cSldViewPr snapToGrid="0" snapToObjects="1">
      <p:cViewPr varScale="1">
        <p:scale>
          <a:sx n="46" d="100"/>
          <a:sy n="46" d="100"/>
        </p:scale>
        <p:origin x="1080" y="4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506361" y="874305"/>
            <a:ext cx="11562736" cy="2727709"/>
          </a:xfrm>
        </p:spPr>
        <p:txBody>
          <a:bodyPr/>
          <a:lstStyle/>
          <a:p>
            <a:r>
              <a:rPr lang="en-US" sz="5000" dirty="0"/>
              <a:t>HAND GESTURE RECOGNITION AND VOICE CONVERSION SYSTEM FOR DUMB PEOPLE</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764771" y="3821984"/>
            <a:ext cx="5864630" cy="2727709"/>
          </a:xfrm>
        </p:spPr>
        <p:txBody>
          <a:bodyPr>
            <a:normAutofit fontScale="47500" lnSpcReduction="20000"/>
          </a:bodyPr>
          <a:lstStyle/>
          <a:p>
            <a:r>
              <a:rPr lang="en-US" sz="4400" b="1" dirty="0"/>
              <a:t>TEAM MEMBERS :</a:t>
            </a:r>
          </a:p>
          <a:p>
            <a:r>
              <a:rPr lang="en-US" sz="5100" dirty="0" err="1"/>
              <a:t>Hemavarni.S</a:t>
            </a:r>
            <a:endParaRPr lang="en-US" sz="5100" dirty="0"/>
          </a:p>
          <a:p>
            <a:r>
              <a:rPr lang="en-US" sz="5100" dirty="0"/>
              <a:t>Hema </a:t>
            </a:r>
            <a:r>
              <a:rPr lang="en-US" sz="5100" dirty="0" err="1"/>
              <a:t>Chandrika.D</a:t>
            </a:r>
            <a:endParaRPr lang="en-US" sz="5100" dirty="0"/>
          </a:p>
          <a:p>
            <a:r>
              <a:rPr lang="en-US" sz="5100" dirty="0" err="1"/>
              <a:t>Jeevitha.P</a:t>
            </a:r>
            <a:endParaRPr lang="en-US" sz="5100" dirty="0"/>
          </a:p>
          <a:p>
            <a:r>
              <a:rPr lang="en-US" sz="5100" dirty="0"/>
              <a:t>Karishma .S</a:t>
            </a:r>
            <a:br>
              <a:rPr lang="en-US" sz="3400" dirty="0"/>
            </a:br>
            <a:endParaRPr lang="en-US" sz="3400" dirty="0"/>
          </a:p>
          <a:p>
            <a:br>
              <a:rPr lang="en-US" dirty="0"/>
            </a:br>
            <a:br>
              <a:rPr lang="en-US" dirty="0"/>
            </a:br>
            <a:endParaRPr lang="en-US" dirty="0"/>
          </a:p>
        </p:txBody>
      </p:sp>
      <p:pic>
        <p:nvPicPr>
          <p:cNvPr id="5" name="Picture 4">
            <a:extLst>
              <a:ext uri="{FF2B5EF4-FFF2-40B4-BE49-F238E27FC236}">
                <a16:creationId xmlns:a16="http://schemas.microsoft.com/office/drawing/2014/main" id="{F78EDCF5-D4F4-B539-6854-313326E9E15D}"/>
              </a:ext>
            </a:extLst>
          </p:cNvPr>
          <p:cNvPicPr>
            <a:picLocks noChangeAspect="1"/>
          </p:cNvPicPr>
          <p:nvPr/>
        </p:nvPicPr>
        <p:blipFill rotWithShape="1">
          <a:blip r:embed="rId3"/>
          <a:srcRect t="12255"/>
          <a:stretch/>
        </p:blipFill>
        <p:spPr>
          <a:xfrm>
            <a:off x="6479458" y="3775587"/>
            <a:ext cx="3974689" cy="2615715"/>
          </a:xfrm>
          <a:prstGeom prst="rect">
            <a:avLst/>
          </a:prstGeom>
        </p:spPr>
      </p:pic>
    </p:spTree>
    <p:extLst>
      <p:ext uri="{BB962C8B-B14F-4D97-AF65-F5344CB8AC3E}">
        <p14:creationId xmlns:p14="http://schemas.microsoft.com/office/powerpoint/2010/main" val="1973173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1504336" y="632461"/>
            <a:ext cx="7631709" cy="1091627"/>
          </a:xfrm>
        </p:spPr>
        <p:txBody>
          <a:bodyPr/>
          <a:lstStyle/>
          <a:p>
            <a:r>
              <a:rPr lang="en-US" sz="5000" dirty="0"/>
              <a:t>Introduction</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914399" y="2089262"/>
            <a:ext cx="7742903" cy="4143375"/>
          </a:xfrm>
        </p:spPr>
        <p:txBody>
          <a:bodyPr>
            <a:noAutofit/>
          </a:bodyPr>
          <a:lstStyle/>
          <a:p>
            <a:pPr>
              <a:buFont typeface="Wingdings" panose="05000000000000000000" pitchFamily="2" charset="2"/>
              <a:buChar char="v"/>
            </a:pPr>
            <a:r>
              <a:rPr lang="en-US" sz="2500" dirty="0"/>
              <a:t>For any form of communication to be effective it must operate efficiently for both informant and the recipient.</a:t>
            </a:r>
          </a:p>
          <a:p>
            <a:pPr>
              <a:buFont typeface="Wingdings" panose="05000000000000000000" pitchFamily="2" charset="2"/>
              <a:buChar char="v"/>
            </a:pPr>
            <a:r>
              <a:rPr lang="en-US" sz="2500" dirty="0"/>
              <a:t>If a speaker or signer has a limited vocabulary</a:t>
            </a:r>
            <a:r>
              <a:rPr lang="en-IN" sz="2500" dirty="0"/>
              <a:t>, or if someone cannot understand or even access the fluent signs or words they express</a:t>
            </a:r>
            <a:r>
              <a:rPr lang="en-US" sz="2500" dirty="0"/>
              <a:t> the interaction of the two has little to no value.</a:t>
            </a:r>
          </a:p>
          <a:p>
            <a:pPr>
              <a:buFont typeface="Wingdings" panose="05000000000000000000" pitchFamily="2" charset="2"/>
              <a:buChar char="v"/>
            </a:pPr>
            <a:r>
              <a:rPr lang="en-US" sz="2500" dirty="0"/>
              <a:t>Using hand gesture recognition with </a:t>
            </a:r>
            <a:r>
              <a:rPr lang="en-US" sz="2500" dirty="0">
                <a:solidFill>
                  <a:srgbClr val="C00000"/>
                </a:solidFill>
              </a:rPr>
              <a:t>IR sensors converted to voice </a:t>
            </a:r>
            <a:r>
              <a:rPr lang="en-US" sz="2500" dirty="0"/>
              <a:t>output is for individuals with speech and hearing impairments.</a:t>
            </a:r>
          </a:p>
          <a:p>
            <a:pPr>
              <a:buFont typeface="Wingdings" panose="05000000000000000000" pitchFamily="2" charset="2"/>
              <a:buChar char="v"/>
            </a:pPr>
            <a:endParaRPr lang="en-US" sz="2500"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
        <p:nvSpPr>
          <p:cNvPr id="5" name="Picture Placeholder 4">
            <a:extLst>
              <a:ext uri="{FF2B5EF4-FFF2-40B4-BE49-F238E27FC236}">
                <a16:creationId xmlns:a16="http://schemas.microsoft.com/office/drawing/2014/main" id="{11C461A6-E457-6CD4-E11B-1CAFAA4485E2}"/>
              </a:ext>
            </a:extLst>
          </p:cNvPr>
          <p:cNvSpPr>
            <a:spLocks noGrp="1"/>
          </p:cNvSpPr>
          <p:nvPr>
            <p:ph type="pic" sz="quarter" idx="14"/>
          </p:nvPr>
        </p:nvSpPr>
        <p:spPr/>
      </p:sp>
    </p:spTree>
    <p:extLst>
      <p:ext uri="{BB962C8B-B14F-4D97-AF65-F5344CB8AC3E}">
        <p14:creationId xmlns:p14="http://schemas.microsoft.com/office/powerpoint/2010/main" val="1941619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EFFE-95D0-611E-583C-65B67BE0327E}"/>
              </a:ext>
            </a:extLst>
          </p:cNvPr>
          <p:cNvSpPr>
            <a:spLocks noGrp="1"/>
          </p:cNvSpPr>
          <p:nvPr>
            <p:ph type="title"/>
          </p:nvPr>
        </p:nvSpPr>
        <p:spPr>
          <a:xfrm>
            <a:off x="3088414" y="380311"/>
            <a:ext cx="7843837" cy="1012782"/>
          </a:xfrm>
        </p:spPr>
        <p:txBody>
          <a:bodyPr/>
          <a:lstStyle/>
          <a:p>
            <a:r>
              <a:rPr lang="en-US" sz="5000" dirty="0"/>
              <a:t>ALGORITHM</a:t>
            </a:r>
            <a:endParaRPr lang="en-IN" sz="5000" dirty="0"/>
          </a:p>
        </p:txBody>
      </p:sp>
      <p:sp>
        <p:nvSpPr>
          <p:cNvPr id="5" name="Slide Number Placeholder 4">
            <a:extLst>
              <a:ext uri="{FF2B5EF4-FFF2-40B4-BE49-F238E27FC236}">
                <a16:creationId xmlns:a16="http://schemas.microsoft.com/office/drawing/2014/main" id="{DB14609A-7A71-D144-D877-B6E88FC32E80}"/>
              </a:ext>
            </a:extLst>
          </p:cNvPr>
          <p:cNvSpPr>
            <a:spLocks noGrp="1"/>
          </p:cNvSpPr>
          <p:nvPr>
            <p:ph type="sldNum" sz="quarter" idx="10"/>
          </p:nvPr>
        </p:nvSpPr>
        <p:spPr/>
        <p:txBody>
          <a:bodyPr/>
          <a:lstStyle/>
          <a:p>
            <a:fld id="{48F63A3B-78C7-47BE-AE5E-E10140E04643}" type="slidenum">
              <a:rPr lang="en-US" smtClean="0"/>
              <a:pPr/>
              <a:t>3</a:t>
            </a:fld>
            <a:endParaRPr lang="en-US" dirty="0"/>
          </a:p>
        </p:txBody>
      </p:sp>
      <p:sp>
        <p:nvSpPr>
          <p:cNvPr id="6" name="Content Placeholder 2">
            <a:extLst>
              <a:ext uri="{FF2B5EF4-FFF2-40B4-BE49-F238E27FC236}">
                <a16:creationId xmlns:a16="http://schemas.microsoft.com/office/drawing/2014/main" id="{8E3FD17A-624C-BE87-2ED0-901C60C4DCE9}"/>
              </a:ext>
            </a:extLst>
          </p:cNvPr>
          <p:cNvSpPr txBox="1">
            <a:spLocks/>
          </p:cNvSpPr>
          <p:nvPr/>
        </p:nvSpPr>
        <p:spPr>
          <a:xfrm>
            <a:off x="1066799" y="1892689"/>
            <a:ext cx="10058400" cy="5048019"/>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457200" marR="0" lvl="0" indent="-457200" algn="l" defTabSz="914400" rtl="0" eaLnBrk="1" fontAlgn="auto" latinLnBrk="0" hangingPunct="1">
              <a:lnSpc>
                <a:spcPct val="90000"/>
              </a:lnSpc>
              <a:spcBef>
                <a:spcPts val="1200"/>
              </a:spcBef>
              <a:spcAft>
                <a:spcPts val="0"/>
              </a:spcAft>
              <a:buClr>
                <a:srgbClr val="D34817">
                  <a:lumMod val="75000"/>
                </a:srgbClr>
              </a:buClr>
              <a:buSzPct val="85000"/>
              <a:buFont typeface="+mj-lt"/>
              <a:buAutoNum type="arabicPeriod"/>
              <a:tabLst/>
              <a:defRPr/>
            </a:pPr>
            <a:r>
              <a:rPr kumimoji="0" lang="en-IN" sz="2800" b="1" i="0" u="none" strike="noStrike" kern="1200" cap="none" spc="0" normalizeH="0" baseline="0" noProof="0" dirty="0">
                <a:ln>
                  <a:noFill/>
                </a:ln>
                <a:solidFill>
                  <a:sysClr val="windowText" lastClr="000000"/>
                </a:solidFill>
                <a:effectLst/>
                <a:uLnTx/>
                <a:uFillTx/>
                <a:latin typeface="Rockwell" panose="02060603020205020403"/>
                <a:ea typeface="+mn-ea"/>
                <a:cs typeface="+mn-cs"/>
              </a:rPr>
              <a:t>Data Collection </a:t>
            </a:r>
          </a:p>
          <a:p>
            <a:pPr marL="457200" marR="0" lvl="0" indent="-457200" algn="l" defTabSz="914400" rtl="0" eaLnBrk="1" fontAlgn="auto" latinLnBrk="0" hangingPunct="1">
              <a:lnSpc>
                <a:spcPct val="90000"/>
              </a:lnSpc>
              <a:spcBef>
                <a:spcPts val="1200"/>
              </a:spcBef>
              <a:spcAft>
                <a:spcPts val="0"/>
              </a:spcAft>
              <a:buClr>
                <a:srgbClr val="D34817">
                  <a:lumMod val="75000"/>
                </a:srgbClr>
              </a:buClr>
              <a:buSzPct val="85000"/>
              <a:buFont typeface="+mj-lt"/>
              <a:buAutoNum type="arabicPeriod"/>
              <a:tabLst/>
              <a:defRPr/>
            </a:pPr>
            <a:r>
              <a:rPr kumimoji="0" lang="en-IN" sz="2800" b="1" i="0" u="none" strike="noStrike" kern="1200" cap="none" spc="0" normalizeH="0" baseline="0" noProof="0" dirty="0">
                <a:ln>
                  <a:noFill/>
                </a:ln>
                <a:solidFill>
                  <a:sysClr val="windowText" lastClr="000000"/>
                </a:solidFill>
                <a:effectLst/>
                <a:uLnTx/>
                <a:uFillTx/>
                <a:latin typeface="Rockwell" panose="02060603020205020403"/>
                <a:ea typeface="+mn-ea"/>
                <a:cs typeface="+mn-cs"/>
              </a:rPr>
              <a:t>Preprocessing</a:t>
            </a:r>
          </a:p>
          <a:p>
            <a:pPr marL="457200" marR="0" lvl="0" indent="-457200" algn="l" defTabSz="914400" rtl="0" eaLnBrk="1" fontAlgn="auto" latinLnBrk="0" hangingPunct="1">
              <a:lnSpc>
                <a:spcPct val="90000"/>
              </a:lnSpc>
              <a:spcBef>
                <a:spcPts val="1200"/>
              </a:spcBef>
              <a:spcAft>
                <a:spcPts val="0"/>
              </a:spcAft>
              <a:buClr>
                <a:srgbClr val="D34817">
                  <a:lumMod val="75000"/>
                </a:srgbClr>
              </a:buClr>
              <a:buSzPct val="85000"/>
              <a:buFont typeface="+mj-lt"/>
              <a:buAutoNum type="arabicPeriod"/>
              <a:tabLst/>
              <a:defRPr/>
            </a:pPr>
            <a:r>
              <a:rPr kumimoji="0" lang="en-US" sz="2800" b="1" i="0" u="none" strike="noStrike" kern="1200" cap="none" spc="0" normalizeH="0" baseline="0" noProof="0" dirty="0">
                <a:ln>
                  <a:noFill/>
                </a:ln>
                <a:solidFill>
                  <a:sysClr val="windowText" lastClr="000000"/>
                </a:solidFill>
                <a:effectLst/>
                <a:uLnTx/>
                <a:uFillTx/>
                <a:latin typeface="Rockwell" panose="02060603020205020403"/>
                <a:ea typeface="+mn-ea"/>
                <a:cs typeface="+mn-cs"/>
              </a:rPr>
              <a:t>Training</a:t>
            </a: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r>
              <a:rPr kumimoji="0" lang="en-US" sz="2200" b="0" i="0" u="none" strike="noStrike" kern="1200" cap="none" spc="0" normalizeH="0" baseline="0" noProof="0" dirty="0">
                <a:ln>
                  <a:noFill/>
                </a:ln>
                <a:solidFill>
                  <a:sysClr val="windowText" lastClr="000000"/>
                </a:solidFill>
                <a:effectLst/>
                <a:uLnTx/>
                <a:uFillTx/>
                <a:latin typeface="Rockwell" panose="02060603020205020403"/>
                <a:ea typeface="+mn-ea"/>
                <a:cs typeface="+mn-cs"/>
              </a:rPr>
              <a:t>Train a machine learning model on preprocessed data</a:t>
            </a: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r>
              <a:rPr kumimoji="0" lang="en-US" sz="2200" b="0" i="0" u="none" strike="noStrike" kern="1200" cap="none" spc="0" normalizeH="0" baseline="0" noProof="0" dirty="0">
                <a:ln>
                  <a:noFill/>
                </a:ln>
                <a:solidFill>
                  <a:sysClr val="windowText" lastClr="000000"/>
                </a:solidFill>
                <a:effectLst/>
                <a:uLnTx/>
                <a:uFillTx/>
                <a:latin typeface="Rockwell" panose="02060603020205020403"/>
                <a:ea typeface="+mn-ea"/>
                <a:cs typeface="+mn-cs"/>
              </a:rPr>
              <a:t>Load preprocessed data</a:t>
            </a: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r>
              <a:rPr kumimoji="0" lang="en-US" sz="2200" b="0" i="0" u="none" strike="noStrike" kern="1200" cap="none" spc="0" normalizeH="0" baseline="0" noProof="0" dirty="0">
                <a:ln>
                  <a:noFill/>
                </a:ln>
                <a:solidFill>
                  <a:sysClr val="windowText" lastClr="000000"/>
                </a:solidFill>
                <a:effectLst/>
                <a:uLnTx/>
                <a:uFillTx/>
                <a:latin typeface="Rockwell" panose="02060603020205020403"/>
                <a:ea typeface="+mn-ea"/>
                <a:cs typeface="+mn-cs"/>
              </a:rPr>
              <a:t>Split data into training and testing sets</a:t>
            </a: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r>
              <a:rPr kumimoji="0" lang="en-US" sz="2200" b="0" i="0" u="none" strike="noStrike" kern="1200" cap="none" spc="0" normalizeH="0" baseline="0" noProof="0" dirty="0">
                <a:ln>
                  <a:noFill/>
                </a:ln>
                <a:solidFill>
                  <a:sysClr val="windowText" lastClr="000000"/>
                </a:solidFill>
                <a:effectLst/>
                <a:uLnTx/>
                <a:uFillTx/>
                <a:latin typeface="Rockwell" panose="02060603020205020403"/>
                <a:ea typeface="+mn-ea"/>
                <a:cs typeface="+mn-cs"/>
              </a:rPr>
              <a:t>Choose a machine learning algorithm (e.g., SVM, Random Forest, Neural Network)</a:t>
            </a: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r>
              <a:rPr kumimoji="0" lang="en-US" sz="2200" b="0" i="0" u="none" strike="noStrike" kern="1200" cap="none" spc="0" normalizeH="0" baseline="0" noProof="0" dirty="0">
                <a:ln>
                  <a:noFill/>
                </a:ln>
                <a:solidFill>
                  <a:sysClr val="windowText" lastClr="000000"/>
                </a:solidFill>
                <a:effectLst/>
                <a:uLnTx/>
                <a:uFillTx/>
                <a:latin typeface="Rockwell" panose="02060603020205020403"/>
                <a:ea typeface="+mn-ea"/>
                <a:cs typeface="+mn-cs"/>
              </a:rPr>
              <a:t>Train the model on the training data</a:t>
            </a: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r>
              <a:rPr kumimoji="0" lang="en-US" sz="2200" b="0" i="0" u="none" strike="noStrike" kern="1200" cap="none" spc="0" normalizeH="0" baseline="0" noProof="0" dirty="0">
                <a:ln>
                  <a:noFill/>
                </a:ln>
                <a:solidFill>
                  <a:sysClr val="windowText" lastClr="000000"/>
                </a:solidFill>
                <a:effectLst/>
                <a:uLnTx/>
                <a:uFillTx/>
                <a:latin typeface="Rockwell" panose="02060603020205020403"/>
                <a:ea typeface="+mn-ea"/>
                <a:cs typeface="+mn-cs"/>
              </a:rPr>
              <a:t>Evaluate the model's performance on the testing data</a:t>
            </a:r>
          </a:p>
          <a:p>
            <a:pPr marL="182880" marR="0" lvl="0" indent="-182880" algn="l" defTabSz="914400" rtl="0" eaLnBrk="1" fontAlgn="auto" latinLnBrk="0" hangingPunct="1">
              <a:lnSpc>
                <a:spcPct val="90000"/>
              </a:lnSpc>
              <a:spcBef>
                <a:spcPts val="1200"/>
              </a:spcBef>
              <a:spcAft>
                <a:spcPts val="0"/>
              </a:spcAft>
              <a:buClr>
                <a:srgbClr val="D34817">
                  <a:lumMod val="75000"/>
                </a:srgbClr>
              </a:buClr>
              <a:buSzPct val="85000"/>
              <a:buFont typeface="Wingdings" pitchFamily="2" charset="2"/>
              <a:buChar char="§"/>
              <a:tabLst/>
              <a:defRPr/>
            </a:pPr>
            <a:endParaRPr kumimoji="0" lang="en-US" sz="2000" b="0" i="0" u="none" strike="noStrike" kern="1200" cap="none" spc="0" normalizeH="0" baseline="0" noProof="0" dirty="0">
              <a:ln>
                <a:noFill/>
              </a:ln>
              <a:solidFill>
                <a:sysClr val="windowText" lastClr="000000"/>
              </a:solidFill>
              <a:effectLst/>
              <a:uLnTx/>
              <a:uFillTx/>
              <a:latin typeface="Rockwell" panose="02060603020205020403"/>
              <a:ea typeface="+mn-ea"/>
              <a:cs typeface="+mn-cs"/>
            </a:endParaRP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endParaRPr kumimoji="0" lang="en-IN" sz="1600" b="0" i="0" u="none" strike="noStrike" kern="1200" cap="none" spc="0" normalizeH="0" baseline="0" noProof="0" dirty="0">
              <a:ln>
                <a:noFill/>
              </a:ln>
              <a:solidFill>
                <a:sysClr val="windowText" lastClr="000000"/>
              </a:solidFill>
              <a:effectLst/>
              <a:uLnTx/>
              <a:uFillTx/>
              <a:latin typeface="Rockwell" panose="02060603020205020403"/>
              <a:ea typeface="+mn-ea"/>
              <a:cs typeface="+mn-cs"/>
            </a:endParaRP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endParaRPr kumimoji="0" lang="en-US" sz="1600" b="0" i="0" u="none" strike="noStrike" kern="1200" cap="none" spc="0" normalizeH="0" baseline="0" noProof="0" dirty="0">
              <a:ln>
                <a:noFill/>
              </a:ln>
              <a:solidFill>
                <a:sysClr val="windowText" lastClr="000000"/>
              </a:solidFill>
              <a:effectLst/>
              <a:uLnTx/>
              <a:uFillTx/>
              <a:latin typeface="Rockwell" panose="02060603020205020403"/>
              <a:ea typeface="+mn-ea"/>
              <a:cs typeface="+mn-cs"/>
            </a:endParaRP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endParaRPr kumimoji="0" lang="en-US" sz="1600" b="0" i="0" u="none" strike="noStrike" kern="1200" cap="none" spc="0" normalizeH="0" baseline="0" noProof="0" dirty="0">
              <a:ln>
                <a:noFill/>
              </a:ln>
              <a:solidFill>
                <a:sysClr val="windowText" lastClr="000000"/>
              </a:solidFill>
              <a:effectLst/>
              <a:uLnTx/>
              <a:uFillTx/>
              <a:latin typeface="Rockwell" panose="02060603020205020403"/>
              <a:ea typeface="+mn-ea"/>
              <a:cs typeface="+mn-cs"/>
            </a:endParaRP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endParaRPr kumimoji="0" lang="en-US" sz="1600" b="0" i="0" u="none" strike="noStrike" kern="1200" cap="none" spc="0" normalizeH="0" baseline="0" noProof="0" dirty="0">
              <a:ln>
                <a:noFill/>
              </a:ln>
              <a:solidFill>
                <a:sysClr val="windowText" lastClr="000000"/>
              </a:solidFill>
              <a:effectLst/>
              <a:uLnTx/>
              <a:uFillTx/>
              <a:latin typeface="Rockwell" panose="02060603020205020403"/>
              <a:ea typeface="+mn-ea"/>
              <a:cs typeface="+mn-cs"/>
            </a:endParaRPr>
          </a:p>
          <a:p>
            <a:pPr marL="731520" marR="0" lvl="2" indent="-182880" algn="l" defTabSz="914400" rtl="0" eaLnBrk="1" fontAlgn="auto" latinLnBrk="0" hangingPunct="1">
              <a:lnSpc>
                <a:spcPct val="90000"/>
              </a:lnSpc>
              <a:spcBef>
                <a:spcPts val="400"/>
              </a:spcBef>
              <a:spcAft>
                <a:spcPts val="200"/>
              </a:spcAft>
              <a:buClr>
                <a:srgbClr val="D34817">
                  <a:lumMod val="75000"/>
                </a:srgbClr>
              </a:buClr>
              <a:buSzPct val="85000"/>
              <a:buFont typeface="Wingdings" pitchFamily="2" charset="2"/>
              <a:buChar char="Ø"/>
              <a:tabLst/>
              <a:defRPr/>
            </a:pPr>
            <a:endParaRPr kumimoji="0" lang="en-IN" sz="1600" b="0" i="0" u="none" strike="noStrike" kern="1200" cap="none" spc="0" normalizeH="0" baseline="0" noProof="0" dirty="0">
              <a:ln>
                <a:noFill/>
              </a:ln>
              <a:solidFill>
                <a:sysClr val="windowText" lastClr="000000"/>
              </a:solidFill>
              <a:effectLst/>
              <a:uLnTx/>
              <a:uFillTx/>
              <a:latin typeface="Rockwell" panose="02060603020205020403"/>
              <a:ea typeface="+mn-ea"/>
              <a:cs typeface="+mn-cs"/>
            </a:endParaRPr>
          </a:p>
          <a:p>
            <a:pPr marL="457200" marR="0" lvl="0" indent="-457200" algn="l" defTabSz="914400" rtl="0" eaLnBrk="1" fontAlgn="auto" latinLnBrk="0" hangingPunct="1">
              <a:lnSpc>
                <a:spcPct val="90000"/>
              </a:lnSpc>
              <a:spcBef>
                <a:spcPts val="1200"/>
              </a:spcBef>
              <a:spcAft>
                <a:spcPts val="0"/>
              </a:spcAft>
              <a:buClr>
                <a:srgbClr val="D34817">
                  <a:lumMod val="75000"/>
                </a:srgbClr>
              </a:buClr>
              <a:buSzPct val="85000"/>
              <a:buFont typeface="+mj-lt"/>
              <a:buAutoNum type="arabicPeriod"/>
              <a:tabLst/>
              <a:defRPr/>
            </a:pPr>
            <a:endParaRPr kumimoji="0" lang="en-IN" sz="2000" b="0" i="0" u="none" strike="noStrike" kern="1200" cap="none" spc="0" normalizeH="0" baseline="0" noProof="0" dirty="0">
              <a:ln>
                <a:noFill/>
              </a:ln>
              <a:solidFill>
                <a:sysClr val="windowText" lastClr="000000"/>
              </a:solidFill>
              <a:effectLst/>
              <a:uLnTx/>
              <a:uFillTx/>
              <a:latin typeface="Rockwell" panose="02060603020205020403"/>
              <a:ea typeface="+mn-ea"/>
              <a:cs typeface="+mn-cs"/>
            </a:endParaRPr>
          </a:p>
        </p:txBody>
      </p:sp>
    </p:spTree>
    <p:extLst>
      <p:ext uri="{BB962C8B-B14F-4D97-AF65-F5344CB8AC3E}">
        <p14:creationId xmlns:p14="http://schemas.microsoft.com/office/powerpoint/2010/main" val="3989743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B27D75-F5F7-E2A9-434A-AC6346569B6E}"/>
              </a:ext>
            </a:extLst>
          </p:cNvPr>
          <p:cNvPicPr>
            <a:picLocks noChangeAspect="1"/>
          </p:cNvPicPr>
          <p:nvPr/>
        </p:nvPicPr>
        <p:blipFill>
          <a:blip r:embed="rId2"/>
          <a:stretch>
            <a:fillRect/>
          </a:stretch>
        </p:blipFill>
        <p:spPr>
          <a:xfrm>
            <a:off x="761395" y="701205"/>
            <a:ext cx="9400847" cy="5249111"/>
          </a:xfrm>
          <a:prstGeom prst="rect">
            <a:avLst/>
          </a:prstGeom>
        </p:spPr>
      </p:pic>
    </p:spTree>
    <p:extLst>
      <p:ext uri="{BB962C8B-B14F-4D97-AF65-F5344CB8AC3E}">
        <p14:creationId xmlns:p14="http://schemas.microsoft.com/office/powerpoint/2010/main" val="229680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9B56ADB-6636-CA14-75AE-3C0CC2D8F53A}"/>
              </a:ext>
            </a:extLst>
          </p:cNvPr>
          <p:cNvSpPr>
            <a:spLocks noGrp="1"/>
          </p:cNvSpPr>
          <p:nvPr>
            <p:ph type="title"/>
          </p:nvPr>
        </p:nvSpPr>
        <p:spPr>
          <a:xfrm>
            <a:off x="1550564" y="703313"/>
            <a:ext cx="9875463" cy="999746"/>
          </a:xfrm>
        </p:spPr>
        <p:txBody>
          <a:bodyPr/>
          <a:lstStyle/>
          <a:p>
            <a:pPr algn="ctr"/>
            <a:r>
              <a:rPr lang="en-US" sz="5000" dirty="0"/>
              <a:t>PROPOSED SOLUTION</a:t>
            </a:r>
            <a:endParaRPr lang="en-IN" sz="5000" dirty="0"/>
          </a:p>
        </p:txBody>
      </p:sp>
      <p:sp>
        <p:nvSpPr>
          <p:cNvPr id="11" name="Content Placeholder 2">
            <a:extLst>
              <a:ext uri="{FF2B5EF4-FFF2-40B4-BE49-F238E27FC236}">
                <a16:creationId xmlns:a16="http://schemas.microsoft.com/office/drawing/2014/main" id="{77033FAF-4C24-8B23-3DE7-19AC99402541}"/>
              </a:ext>
            </a:extLst>
          </p:cNvPr>
          <p:cNvSpPr txBox="1">
            <a:spLocks/>
          </p:cNvSpPr>
          <p:nvPr/>
        </p:nvSpPr>
        <p:spPr>
          <a:xfrm>
            <a:off x="1052232" y="1927152"/>
            <a:ext cx="10499852" cy="5181600"/>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342900" marR="0" lvl="0" indent="-342900" algn="l" defTabSz="914400" rtl="0" eaLnBrk="1" fontAlgn="auto" latinLnBrk="0" hangingPunct="1">
              <a:lnSpc>
                <a:spcPct val="130000"/>
              </a:lnSpc>
              <a:spcBef>
                <a:spcPts val="1200"/>
              </a:spcBef>
              <a:spcAft>
                <a:spcPts val="0"/>
              </a:spcAft>
              <a:buClr>
                <a:srgbClr val="D34817">
                  <a:lumMod val="75000"/>
                </a:srgbClr>
              </a:buClr>
              <a:buSzPct val="85000"/>
              <a:buFont typeface="+mj-lt"/>
              <a:buAutoNum type="arabicPeriod"/>
              <a:tabLst>
                <a:tab pos="228600" algn="l"/>
              </a:tabLst>
              <a:defRPr/>
            </a:pPr>
            <a:r>
              <a:rPr kumimoji="0" lang="en-US" sz="2400" b="1" i="0" u="none" strike="noStrike" kern="1200" cap="none" spc="0" normalizeH="0" baseline="0" noProof="0" dirty="0">
                <a:ln>
                  <a:noFill/>
                </a:ln>
                <a:solidFill>
                  <a:srgbClr val="2E1500"/>
                </a:solidFill>
                <a:effectLst/>
                <a:uLnTx/>
                <a:uFillTx/>
                <a:latin typeface="Rockwell (Body)"/>
                <a:ea typeface="Times New Roman" panose="02020603050405020304" pitchFamily="18" charset="0"/>
                <a:cs typeface="Times New Roman" panose="02020603050405020304" pitchFamily="18" charset="0"/>
              </a:rPr>
              <a:t>IR Sensor Selection:</a:t>
            </a:r>
            <a:r>
              <a:rPr kumimoji="0" lang="en-US" sz="2400" b="1" i="0" u="none" strike="noStrike" kern="1200" cap="none" spc="0" normalizeH="0" baseline="0" noProof="0" dirty="0">
                <a:ln>
                  <a:noFill/>
                </a:ln>
                <a:solidFill>
                  <a:srgbClr val="5F5F5F"/>
                </a:solidFill>
                <a:effectLst/>
                <a:uLnTx/>
                <a:uFillTx/>
                <a:latin typeface="Rockwell (Body)"/>
                <a:ea typeface="Verdana" panose="020B0604030504040204" pitchFamily="34" charset="0"/>
                <a:cs typeface="Times New Roman" panose="02020603050405020304" pitchFamily="18" charset="0"/>
              </a:rPr>
              <a:t> </a:t>
            </a:r>
            <a:endParaRPr kumimoji="0" lang="en-IN" sz="2000" b="1" i="0" u="none" strike="noStrike" kern="1200" cap="none" spc="0" normalizeH="0" baseline="0" noProof="0" dirty="0">
              <a:ln>
                <a:noFill/>
              </a:ln>
              <a:solidFill>
                <a:srgbClr val="5F5F5F"/>
              </a:solidFill>
              <a:effectLst/>
              <a:uLnTx/>
              <a:uFillTx/>
              <a:latin typeface="Rockwell (Body)"/>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Body)"/>
                <a:ea typeface="Times New Roman" panose="02020603050405020304" pitchFamily="18" charset="0"/>
                <a:cs typeface="Times New Roman" panose="02020603050405020304" pitchFamily="18" charset="0"/>
              </a:rPr>
              <a:t>Choose IR sensors suitable for detecting hand gestures. IR proximity sensors or IR reflective sensors can work well.</a:t>
            </a:r>
            <a:endParaRPr kumimoji="0" lang="en-IN" sz="2000" b="0" i="0" u="none" strike="noStrike" kern="1200" cap="none" spc="0" normalizeH="0" baseline="0" noProof="0" dirty="0">
              <a:ln>
                <a:noFill/>
              </a:ln>
              <a:solidFill>
                <a:srgbClr val="5F5F5F"/>
              </a:solidFill>
              <a:effectLst/>
              <a:uLnTx/>
              <a:uFillTx/>
              <a:latin typeface="Rockwell (Body)"/>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Body)"/>
                <a:ea typeface="Times New Roman" panose="02020603050405020304" pitchFamily="18" charset="0"/>
                <a:cs typeface="Times New Roman" panose="02020603050405020304" pitchFamily="18" charset="0"/>
              </a:rPr>
              <a:t>Ensure compatibility with Raspberry Pi GPIO pins and power requirements.</a:t>
            </a:r>
            <a:endParaRPr kumimoji="0" lang="en-IN" sz="2000" b="0" i="0" u="none" strike="noStrike" kern="1200" cap="none" spc="0" normalizeH="0" baseline="0" noProof="0" dirty="0">
              <a:ln>
                <a:noFill/>
              </a:ln>
              <a:solidFill>
                <a:srgbClr val="5F5F5F"/>
              </a:solidFill>
              <a:effectLst/>
              <a:uLnTx/>
              <a:uFillTx/>
              <a:latin typeface="Rockwell (Body)"/>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Body)"/>
                <a:ea typeface="Times New Roman" panose="02020603050405020304" pitchFamily="18" charset="0"/>
                <a:cs typeface="Times New Roman" panose="02020603050405020304" pitchFamily="18" charset="0"/>
              </a:rPr>
              <a:t>IR sensors are placed in strategic positions to cover the area where hand gestures will be performed. These sensors emit infrared light and detect its reflection or absence when obstructed by an object, such as a hand.</a:t>
            </a:r>
            <a:endParaRPr kumimoji="0" lang="en-IN" sz="2000" b="0" i="0" u="none" strike="noStrike" kern="1200" cap="none" spc="0" normalizeH="0" baseline="0" noProof="0" dirty="0">
              <a:ln>
                <a:noFill/>
              </a:ln>
              <a:solidFill>
                <a:srgbClr val="5F5F5F"/>
              </a:solidFill>
              <a:effectLst/>
              <a:uLnTx/>
              <a:uFillTx/>
              <a:latin typeface="Rockwell (Body)"/>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Body)"/>
                <a:ea typeface="Times New Roman" panose="02020603050405020304" pitchFamily="18" charset="0"/>
                <a:cs typeface="Times New Roman" panose="02020603050405020304" pitchFamily="18" charset="0"/>
              </a:rPr>
              <a:t>The entire process from IR emission to gesture recognition and feedback occurs in real-time, enabling interactive applications where users can control devices or interfaces through hand gestures.</a:t>
            </a:r>
            <a:endParaRPr kumimoji="0" lang="en-IN" sz="2000" b="0" i="0" u="none" strike="noStrike" kern="1200" cap="none" spc="0" normalizeH="0" baseline="0" noProof="0" dirty="0">
              <a:ln>
                <a:noFill/>
              </a:ln>
              <a:solidFill>
                <a:srgbClr val="5F5F5F"/>
              </a:solidFill>
              <a:effectLst/>
              <a:uLnTx/>
              <a:uFillTx/>
              <a:latin typeface="Rockwell (Body)"/>
              <a:ea typeface="Verdana" panose="020B0604030504040204" pitchFamily="34" charset="0"/>
              <a:cs typeface="Times New Roman" panose="02020603050405020304" pitchFamily="18" charset="0"/>
            </a:endParaRPr>
          </a:p>
          <a:p>
            <a:pPr marL="525780" marR="0" lvl="0" indent="-342900" algn="l" defTabSz="914400" rtl="0" eaLnBrk="1" fontAlgn="auto" latinLnBrk="0" hangingPunct="1">
              <a:lnSpc>
                <a:spcPct val="130000"/>
              </a:lnSpc>
              <a:spcBef>
                <a:spcPts val="1200"/>
              </a:spcBef>
              <a:spcAft>
                <a:spcPts val="0"/>
              </a:spcAft>
              <a:buClr>
                <a:srgbClr val="D34817">
                  <a:lumMod val="75000"/>
                </a:srgbClr>
              </a:buClr>
              <a:buSzPts val="1000"/>
              <a:buFont typeface="+mj-lt"/>
              <a:buAutoNum type="arabicPeriod"/>
              <a:tabLst>
                <a:tab pos="685800" algn="l"/>
              </a:tabLst>
              <a:defRPr/>
            </a:pPr>
            <a:endParaRPr kumimoji="0" lang="en-IN" sz="1800" b="0" i="1" u="none" strike="noStrike" kern="1200" cap="none" spc="0" normalizeH="0" baseline="0" noProof="0" dirty="0">
              <a:ln>
                <a:noFill/>
              </a:ln>
              <a:solidFill>
                <a:srgbClr val="5F5F5F"/>
              </a:solidFill>
              <a:effectLst/>
              <a:uLnTx/>
              <a:uFillTx/>
              <a:latin typeface="Verdana" panose="020B0604030504040204" pitchFamily="34" charset="0"/>
              <a:ea typeface="Verdana" panose="020B0604030504040204" pitchFamily="34" charset="0"/>
              <a:cs typeface="Mangal" panose="02040503050203030202" pitchFamily="18" charset="0"/>
            </a:endParaRPr>
          </a:p>
          <a:p>
            <a:pPr marL="0" marR="0" lvl="0" indent="0" algn="l" defTabSz="914400" rtl="0" eaLnBrk="1" fontAlgn="auto" latinLnBrk="0" hangingPunct="1">
              <a:lnSpc>
                <a:spcPct val="90000"/>
              </a:lnSpc>
              <a:spcBef>
                <a:spcPts val="1200"/>
              </a:spcBef>
              <a:spcAft>
                <a:spcPts val="0"/>
              </a:spcAft>
              <a:buClr>
                <a:srgbClr val="D34817">
                  <a:lumMod val="75000"/>
                </a:srgbClr>
              </a:buClr>
              <a:buSzPct val="85000"/>
              <a:buFont typeface="Wingdings" pitchFamily="2" charset="2"/>
              <a:buNone/>
              <a:tabLst/>
              <a:defRPr/>
            </a:pPr>
            <a:endParaRPr kumimoji="0" lang="en-IN" sz="1400" b="0" i="0" u="none" strike="noStrike" kern="1200" cap="none" spc="0" normalizeH="0" baseline="0" noProof="0" dirty="0">
              <a:ln>
                <a:noFill/>
              </a:ln>
              <a:solidFill>
                <a:sysClr val="windowText" lastClr="000000"/>
              </a:solidFill>
              <a:effectLst/>
              <a:uLnTx/>
              <a:uFillTx/>
              <a:latin typeface="Rockwell" panose="02060603020205020403"/>
              <a:ea typeface="+mn-ea"/>
              <a:cs typeface="+mn-cs"/>
            </a:endParaRPr>
          </a:p>
        </p:txBody>
      </p:sp>
      <p:pic>
        <p:nvPicPr>
          <p:cNvPr id="3" name="Picture 2">
            <a:extLst>
              <a:ext uri="{FF2B5EF4-FFF2-40B4-BE49-F238E27FC236}">
                <a16:creationId xmlns:a16="http://schemas.microsoft.com/office/drawing/2014/main" id="{F3088A86-EE9F-3EDF-6239-3C066C31404D}"/>
              </a:ext>
            </a:extLst>
          </p:cNvPr>
          <p:cNvPicPr>
            <a:picLocks noChangeAspect="1"/>
          </p:cNvPicPr>
          <p:nvPr/>
        </p:nvPicPr>
        <p:blipFill rotWithShape="1">
          <a:blip r:embed="rId3"/>
          <a:srcRect l="15592" t="2547" r="20596" b="-2547"/>
          <a:stretch/>
        </p:blipFill>
        <p:spPr>
          <a:xfrm>
            <a:off x="10103408" y="1203186"/>
            <a:ext cx="2005780" cy="1447800"/>
          </a:xfrm>
          <a:prstGeom prst="flowChartInputOutput">
            <a:avLst/>
          </a:prstGeom>
        </p:spPr>
      </p:pic>
    </p:spTree>
    <p:extLst>
      <p:ext uri="{BB962C8B-B14F-4D97-AF65-F5344CB8AC3E}">
        <p14:creationId xmlns:p14="http://schemas.microsoft.com/office/powerpoint/2010/main" val="249802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0A7BEF-A512-945D-019D-380519819E1A}"/>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
        <p:nvSpPr>
          <p:cNvPr id="5" name="Content Placeholder 2">
            <a:extLst>
              <a:ext uri="{FF2B5EF4-FFF2-40B4-BE49-F238E27FC236}">
                <a16:creationId xmlns:a16="http://schemas.microsoft.com/office/drawing/2014/main" id="{1983C10A-20AB-EED8-46D0-68D84EA7AB4D}"/>
              </a:ext>
            </a:extLst>
          </p:cNvPr>
          <p:cNvSpPr txBox="1">
            <a:spLocks/>
          </p:cNvSpPr>
          <p:nvPr/>
        </p:nvSpPr>
        <p:spPr>
          <a:xfrm>
            <a:off x="2526251" y="265470"/>
            <a:ext cx="9523181" cy="5511292"/>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342900" marR="0" lvl="0" indent="-342900" algn="l" defTabSz="914400" rtl="0" eaLnBrk="1" fontAlgn="auto" latinLnBrk="0" hangingPunct="1">
              <a:lnSpc>
                <a:spcPct val="130000"/>
              </a:lnSpc>
              <a:spcBef>
                <a:spcPts val="1200"/>
              </a:spcBef>
              <a:spcAft>
                <a:spcPts val="0"/>
              </a:spcAft>
              <a:buClr>
                <a:srgbClr val="D34817">
                  <a:lumMod val="75000"/>
                </a:srgbClr>
              </a:buClr>
              <a:buSzPct val="85000"/>
              <a:buFont typeface="+mj-lt"/>
              <a:buAutoNum type="arabicPeriod" startAt="2"/>
              <a:tabLst>
                <a:tab pos="228600" algn="l"/>
              </a:tabLst>
              <a:defRPr/>
            </a:pPr>
            <a:r>
              <a:rPr kumimoji="0" lang="en-US" sz="2400" b="1"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rPr>
              <a:t>Hardware Setup</a:t>
            </a:r>
            <a:r>
              <a:rPr kumimoji="0" lang="en-US" sz="2000" b="1"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rPr>
              <a:t>:</a:t>
            </a:r>
            <a:endParaRPr kumimoji="0" lang="en-IN" sz="2000" b="1" i="0" u="none" strike="noStrike" kern="1200" cap="none" spc="0" normalizeH="0" baseline="0" noProof="0" dirty="0">
              <a:ln>
                <a:noFill/>
              </a:ln>
              <a:solidFill>
                <a:srgbClr val="5F5F5F"/>
              </a:solidFill>
              <a:effectLst/>
              <a:uLnTx/>
              <a:uFillTx/>
              <a:latin typeface="Rockwell" panose="02060603020205020403"/>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rPr>
              <a:t>Connect IR sensors to the GPIO pins of the Raspberry Pi.</a:t>
            </a:r>
            <a:endParaRPr kumimoji="0" lang="en-IN" sz="2000" b="0" i="0" u="none" strike="noStrike" kern="1200" cap="none" spc="0" normalizeH="0" baseline="0" noProof="0" dirty="0">
              <a:ln>
                <a:noFill/>
              </a:ln>
              <a:solidFill>
                <a:srgbClr val="5F5F5F"/>
              </a:solidFill>
              <a:effectLst/>
              <a:uLnTx/>
              <a:uFillTx/>
              <a:latin typeface="Rockwell" panose="02060603020205020403"/>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rPr>
              <a:t>Provide appropriate power to the sensors and Raspberry Pi.</a:t>
            </a:r>
            <a:endParaRPr kumimoji="0" lang="en-IN" sz="2000" b="0" i="0" u="none" strike="noStrike" kern="1200" cap="none" spc="0" normalizeH="0" baseline="0" noProof="0" dirty="0">
              <a:ln>
                <a:noFill/>
              </a:ln>
              <a:solidFill>
                <a:srgbClr val="5F5F5F"/>
              </a:solidFill>
              <a:effectLst/>
              <a:uLnTx/>
              <a:uFillTx/>
              <a:latin typeface="Rockwell" panose="02060603020205020403"/>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rPr>
              <a:t>Consider using a breadboard for prototyping and connecting multiple sensors.</a:t>
            </a:r>
          </a:p>
          <a:p>
            <a:pPr marL="342900" marR="0" lvl="0" indent="-342900" algn="l" defTabSz="914400" rtl="0" eaLnBrk="1" fontAlgn="auto" latinLnBrk="0" hangingPunct="1">
              <a:lnSpc>
                <a:spcPct val="130000"/>
              </a:lnSpc>
              <a:spcBef>
                <a:spcPts val="1200"/>
              </a:spcBef>
              <a:spcAft>
                <a:spcPts val="0"/>
              </a:spcAft>
              <a:buClr>
                <a:srgbClr val="D34817">
                  <a:lumMod val="75000"/>
                </a:srgbClr>
              </a:buClr>
              <a:buSzPct val="85000"/>
              <a:buFont typeface="+mj-lt"/>
              <a:buAutoNum type="arabicPeriod" startAt="3"/>
              <a:tabLst>
                <a:tab pos="228600" algn="l"/>
              </a:tabLst>
              <a:defRPr/>
            </a:pPr>
            <a:r>
              <a:rPr kumimoji="0" lang="en-US" sz="2400" b="1"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rPr>
              <a:t>Software Development:</a:t>
            </a:r>
            <a:endParaRPr kumimoji="0" lang="en-IN" sz="2400" b="1" i="0" u="none" strike="noStrike" kern="1200" cap="none" spc="0" normalizeH="0" baseline="0" noProof="0" dirty="0">
              <a:ln>
                <a:noFill/>
              </a:ln>
              <a:solidFill>
                <a:srgbClr val="5F5F5F"/>
              </a:solidFill>
              <a:effectLst/>
              <a:uLnTx/>
              <a:uFillTx/>
              <a:latin typeface="Rockwell" panose="02060603020205020403"/>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rPr>
              <a:t>Set up the Raspberry Pi with an operating system, here we used LINUX OS.</a:t>
            </a:r>
            <a:endParaRPr kumimoji="0" lang="en-IN" sz="2000" b="0" i="0" u="none" strike="noStrike" kern="1200" cap="none" spc="0" normalizeH="0" baseline="0" noProof="0" dirty="0">
              <a:ln>
                <a:noFill/>
              </a:ln>
              <a:solidFill>
                <a:srgbClr val="5F5F5F"/>
              </a:solidFill>
              <a:effectLst/>
              <a:uLnTx/>
              <a:uFillTx/>
              <a:latin typeface="Rockwell" panose="02060603020205020403"/>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rPr>
              <a:t>Write code to read data from the IR sensors through GPIO pins using Python programming language.</a:t>
            </a:r>
            <a:endParaRPr kumimoji="0" lang="en-IN" sz="2000" b="0" i="0" u="none" strike="noStrike" kern="1200" cap="none" spc="0" normalizeH="0" baseline="0" noProof="0" dirty="0">
              <a:ln>
                <a:noFill/>
              </a:ln>
              <a:solidFill>
                <a:srgbClr val="5F5F5F"/>
              </a:solidFill>
              <a:effectLst/>
              <a:uLnTx/>
              <a:uFillTx/>
              <a:latin typeface="Rockwell" panose="02060603020205020403"/>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rPr>
              <a:t>Implement signal processing techniques to detect hand gestures based on changes in IR sensor readings.</a:t>
            </a:r>
            <a:endParaRPr kumimoji="0" lang="en-IN" sz="2000" b="0" i="0" u="none" strike="noStrike" kern="1200" cap="none" spc="0" normalizeH="0" baseline="0" noProof="0" dirty="0">
              <a:ln>
                <a:noFill/>
              </a:ln>
              <a:solidFill>
                <a:srgbClr val="5F5F5F"/>
              </a:solidFill>
              <a:effectLst/>
              <a:uLnTx/>
              <a:uFillTx/>
              <a:latin typeface="Rockwell" panose="02060603020205020403"/>
              <a:ea typeface="Verdana" panose="020B0604030504040204" pitchFamily="34" charset="0"/>
              <a:cs typeface="Times New Roman" panose="02020603050405020304" pitchFamily="18" charset="0"/>
            </a:endParaRPr>
          </a:p>
          <a:p>
            <a:pPr marL="742950" marR="0" lvl="1" indent="-285750" algn="l" defTabSz="914400" rtl="0" eaLnBrk="1" fontAlgn="auto" latinLnBrk="0" hangingPunct="1">
              <a:lnSpc>
                <a:spcPct val="130000"/>
              </a:lnSpc>
              <a:spcBef>
                <a:spcPts val="400"/>
              </a:spcBef>
              <a:spcAft>
                <a:spcPts val="1000"/>
              </a:spcAft>
              <a:buClr>
                <a:srgbClr val="D34817">
                  <a:lumMod val="75000"/>
                </a:srgbClr>
              </a:buClr>
              <a:buSzPts val="1000"/>
              <a:buFont typeface="Symbol" panose="05050102010706020507" pitchFamily="18" charset="2"/>
              <a:buChar char=""/>
              <a:tabLst>
                <a:tab pos="685800" algn="l"/>
              </a:tabLst>
              <a:defRPr/>
            </a:pPr>
            <a:r>
              <a:rPr kumimoji="0" lang="en-US" sz="2000" b="0"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rPr>
              <a:t>Use libraries like RPi. GPIO for GPIO control and sensor interfacing.</a:t>
            </a:r>
          </a:p>
          <a:p>
            <a:pPr marL="742950" marR="0" lvl="1" indent="-285750" algn="l" defTabSz="914400" rtl="0" eaLnBrk="1" fontAlgn="auto" latinLnBrk="0" hangingPunct="1">
              <a:lnSpc>
                <a:spcPct val="130000"/>
              </a:lnSpc>
              <a:spcBef>
                <a:spcPts val="400"/>
              </a:spcBef>
              <a:spcAft>
                <a:spcPts val="200"/>
              </a:spcAft>
              <a:buClr>
                <a:srgbClr val="D34817">
                  <a:lumMod val="75000"/>
                </a:srgbClr>
              </a:buClr>
              <a:buSzPts val="1000"/>
              <a:buFont typeface="Symbol" panose="05050102010706020507" pitchFamily="18" charset="2"/>
              <a:buChar char=""/>
              <a:tabLst>
                <a:tab pos="685800" algn="l"/>
              </a:tabLst>
              <a:defRPr/>
            </a:pPr>
            <a:endParaRPr kumimoji="0" lang="en-US" sz="2000" b="1" i="0" u="none" strike="noStrike" kern="1200" cap="none" spc="0" normalizeH="0" baseline="0" noProof="0" dirty="0">
              <a:ln>
                <a:noFill/>
              </a:ln>
              <a:solidFill>
                <a:srgbClr val="2E1500"/>
              </a:solidFill>
              <a:effectLst/>
              <a:uLnTx/>
              <a:uFillTx/>
              <a:latin typeface="Rockwell" panose="02060603020205020403"/>
              <a:ea typeface="Times New Roman" panose="02020603050405020304" pitchFamily="18" charset="0"/>
              <a:cs typeface="Times New Roman" panose="02020603050405020304" pitchFamily="18" charset="0"/>
            </a:endParaRPr>
          </a:p>
          <a:p>
            <a:pPr marL="182880" marR="0" lvl="0" indent="-182880" algn="l" defTabSz="914400" rtl="0" eaLnBrk="1" fontAlgn="auto" latinLnBrk="0" hangingPunct="1">
              <a:lnSpc>
                <a:spcPct val="90000"/>
              </a:lnSpc>
              <a:spcBef>
                <a:spcPts val="1200"/>
              </a:spcBef>
              <a:spcAft>
                <a:spcPts val="0"/>
              </a:spcAft>
              <a:buClr>
                <a:srgbClr val="D34817">
                  <a:lumMod val="75000"/>
                </a:srgbClr>
              </a:buClr>
              <a:buSzPct val="85000"/>
              <a:buFont typeface="Wingdings" pitchFamily="2" charset="2"/>
              <a:buChar char="§"/>
              <a:tabLst/>
              <a:defRPr/>
            </a:pPr>
            <a:endParaRPr kumimoji="0" lang="en-IN" sz="2000" b="1" i="0" u="none" strike="noStrike" kern="1200" cap="none" spc="0" normalizeH="0" baseline="0" noProof="0" dirty="0">
              <a:ln>
                <a:noFill/>
              </a:ln>
              <a:solidFill>
                <a:sysClr val="windowText" lastClr="000000"/>
              </a:solidFill>
              <a:effectLst/>
              <a:uLnTx/>
              <a:uFillTx/>
              <a:latin typeface="Rockwell" panose="02060603020205020403"/>
              <a:ea typeface="+mn-ea"/>
              <a:cs typeface="+mn-cs"/>
            </a:endParaRPr>
          </a:p>
        </p:txBody>
      </p:sp>
      <p:pic>
        <p:nvPicPr>
          <p:cNvPr id="3" name="Picture 2">
            <a:extLst>
              <a:ext uri="{FF2B5EF4-FFF2-40B4-BE49-F238E27FC236}">
                <a16:creationId xmlns:a16="http://schemas.microsoft.com/office/drawing/2014/main" id="{901B6D01-E72E-0C4C-9192-13E1F5A8FE06}"/>
              </a:ext>
            </a:extLst>
          </p:cNvPr>
          <p:cNvPicPr>
            <a:picLocks noChangeAspect="1"/>
          </p:cNvPicPr>
          <p:nvPr/>
        </p:nvPicPr>
        <p:blipFill>
          <a:blip r:embed="rId2"/>
          <a:stretch>
            <a:fillRect/>
          </a:stretch>
        </p:blipFill>
        <p:spPr>
          <a:xfrm>
            <a:off x="15303" y="2477524"/>
            <a:ext cx="2510948" cy="1902951"/>
          </a:xfrm>
          <a:prstGeom prst="rect">
            <a:avLst/>
          </a:prstGeom>
        </p:spPr>
      </p:pic>
    </p:spTree>
    <p:extLst>
      <p:ext uri="{BB962C8B-B14F-4D97-AF65-F5344CB8AC3E}">
        <p14:creationId xmlns:p14="http://schemas.microsoft.com/office/powerpoint/2010/main" val="1597756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955262-5FC1-75E5-DE81-4CD13430039C}"/>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
        <p:nvSpPr>
          <p:cNvPr id="7" name="Content Placeholder 2">
            <a:extLst>
              <a:ext uri="{FF2B5EF4-FFF2-40B4-BE49-F238E27FC236}">
                <a16:creationId xmlns:a16="http://schemas.microsoft.com/office/drawing/2014/main" id="{E38410C6-B886-3EE6-252A-CA3A3EB83399}"/>
              </a:ext>
            </a:extLst>
          </p:cNvPr>
          <p:cNvSpPr txBox="1">
            <a:spLocks/>
          </p:cNvSpPr>
          <p:nvPr/>
        </p:nvSpPr>
        <p:spPr>
          <a:xfrm>
            <a:off x="318319" y="614516"/>
            <a:ext cx="8663449" cy="6032500"/>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457200" indent="-457200">
              <a:lnSpc>
                <a:spcPct val="130000"/>
              </a:lnSpc>
              <a:buFont typeface="+mj-lt"/>
              <a:buAutoNum type="arabicPeriod" startAt="4"/>
              <a:tabLst>
                <a:tab pos="228600" algn="l"/>
              </a:tabLst>
            </a:pPr>
            <a:r>
              <a:rPr lang="en-US" sz="2400" b="1" dirty="0">
                <a:solidFill>
                  <a:srgbClr val="2E1500"/>
                </a:solidFill>
                <a:latin typeface="Rockwell" panose="02060603020205020403" pitchFamily="18" charset="0"/>
                <a:ea typeface="Times New Roman" panose="02020603050405020304" pitchFamily="18" charset="0"/>
                <a:cs typeface="Times New Roman" panose="02020603050405020304" pitchFamily="18" charset="0"/>
              </a:rPr>
              <a:t>Feedback Mechanism</a:t>
            </a:r>
            <a:r>
              <a:rPr lang="en-US" b="1" dirty="0">
                <a:solidFill>
                  <a:srgbClr val="2E1500"/>
                </a:solidFill>
                <a:latin typeface="Rockwell" panose="02060603020205020403" pitchFamily="18" charset="0"/>
                <a:ea typeface="Times New Roman" panose="02020603050405020304" pitchFamily="18" charset="0"/>
                <a:cs typeface="Times New Roman" panose="02020603050405020304" pitchFamily="18" charset="0"/>
              </a:rPr>
              <a:t>:</a:t>
            </a:r>
            <a:endParaRPr lang="en-IN" b="1" dirty="0">
              <a:solidFill>
                <a:srgbClr val="5F5F5F"/>
              </a:solidFill>
              <a:latin typeface="Rockwell" panose="02060603020205020403" pitchFamily="18" charset="0"/>
              <a:ea typeface="Verdana" panose="020B0604030504040204" pitchFamily="34" charset="0"/>
              <a:cs typeface="Times New Roman" panose="02020603050405020304" pitchFamily="18" charset="0"/>
            </a:endParaRPr>
          </a:p>
          <a:p>
            <a:pPr marL="914400" lvl="1" indent="-457200">
              <a:lnSpc>
                <a:spcPct val="130000"/>
              </a:lnSpc>
              <a:buSzPts val="1000"/>
              <a:tabLst>
                <a:tab pos="685800" algn="l"/>
              </a:tabLst>
            </a:pPr>
            <a:r>
              <a:rPr lang="en-US" sz="2000" dirty="0">
                <a:solidFill>
                  <a:srgbClr val="2E1500"/>
                </a:solidFill>
                <a:latin typeface="Rockwell" panose="02060603020205020403" pitchFamily="18" charset="0"/>
                <a:ea typeface="Times New Roman" panose="02020603050405020304" pitchFamily="18" charset="0"/>
                <a:cs typeface="Times New Roman" panose="02020603050405020304" pitchFamily="18" charset="0"/>
              </a:rPr>
              <a:t>Provide feedback to the user based on recognized gestures.</a:t>
            </a:r>
            <a:br>
              <a:rPr lang="en-US" sz="2000" dirty="0">
                <a:solidFill>
                  <a:srgbClr val="2E1500"/>
                </a:solidFill>
                <a:latin typeface="Rockwell" panose="02060603020205020403" pitchFamily="18" charset="0"/>
                <a:ea typeface="Times New Roman" panose="02020603050405020304" pitchFamily="18" charset="0"/>
                <a:cs typeface="Times New Roman" panose="02020603050405020304" pitchFamily="18" charset="0"/>
              </a:rPr>
            </a:br>
            <a:r>
              <a:rPr lang="en-US" sz="2000" dirty="0">
                <a:solidFill>
                  <a:srgbClr val="2E1500"/>
                </a:solidFill>
                <a:latin typeface="Rockwell" panose="02060603020205020403" pitchFamily="18" charset="0"/>
                <a:ea typeface="Times New Roman" panose="02020603050405020304" pitchFamily="18" charset="0"/>
                <a:cs typeface="Times New Roman" panose="02020603050405020304" pitchFamily="18" charset="0"/>
              </a:rPr>
              <a:t>Options for feedback include:</a:t>
            </a:r>
            <a:endParaRPr lang="en-IN" sz="2000" dirty="0">
              <a:solidFill>
                <a:srgbClr val="5F5F5F"/>
              </a:solidFill>
              <a:latin typeface="Rockwell" panose="02060603020205020403" pitchFamily="18" charset="0"/>
              <a:ea typeface="Verdana" panose="020B0604030504040204" pitchFamily="34" charset="0"/>
              <a:cs typeface="Times New Roman" panose="02020603050405020304" pitchFamily="18" charset="0"/>
            </a:endParaRPr>
          </a:p>
          <a:p>
            <a:pPr marL="914400" lvl="1" indent="-457200">
              <a:lnSpc>
                <a:spcPct val="130000"/>
              </a:lnSpc>
              <a:buSzPts val="1000"/>
              <a:tabLst>
                <a:tab pos="685800" algn="l"/>
              </a:tabLst>
            </a:pPr>
            <a:r>
              <a:rPr lang="en-US" sz="2000" dirty="0">
                <a:solidFill>
                  <a:srgbClr val="2E1500"/>
                </a:solidFill>
                <a:latin typeface="Rockwell" panose="02060603020205020403" pitchFamily="18" charset="0"/>
                <a:ea typeface="Times New Roman" panose="02020603050405020304" pitchFamily="18" charset="0"/>
                <a:cs typeface="Times New Roman" panose="02020603050405020304" pitchFamily="18" charset="0"/>
              </a:rPr>
              <a:t>Visual feedback: Use LEDs connected to GPIO pins to indicate recognized gestures.</a:t>
            </a:r>
            <a:endParaRPr lang="en-IN" sz="2000" dirty="0">
              <a:solidFill>
                <a:srgbClr val="5F5F5F"/>
              </a:solidFill>
              <a:latin typeface="Rockwell" panose="02060603020205020403" pitchFamily="18" charset="0"/>
              <a:ea typeface="Verdana" panose="020B0604030504040204" pitchFamily="34" charset="0"/>
              <a:cs typeface="Times New Roman" panose="02020603050405020304" pitchFamily="18" charset="0"/>
            </a:endParaRPr>
          </a:p>
          <a:p>
            <a:pPr marL="914400" lvl="1" indent="-457200">
              <a:lnSpc>
                <a:spcPct val="130000"/>
              </a:lnSpc>
              <a:buSzPts val="1000"/>
              <a:tabLst>
                <a:tab pos="685800" algn="l"/>
              </a:tabLst>
            </a:pPr>
            <a:r>
              <a:rPr lang="en-US" sz="2000" dirty="0">
                <a:solidFill>
                  <a:srgbClr val="2E1500"/>
                </a:solidFill>
                <a:latin typeface="Rockwell" panose="02060603020205020403" pitchFamily="18" charset="0"/>
                <a:ea typeface="Times New Roman" panose="02020603050405020304" pitchFamily="18" charset="0"/>
                <a:cs typeface="Times New Roman" panose="02020603050405020304" pitchFamily="18" charset="0"/>
              </a:rPr>
              <a:t>Auditory feedback: Play sounds or speech output using the Raspberry Pi's audio output.</a:t>
            </a:r>
            <a:endParaRPr lang="en-IN" sz="2000" dirty="0">
              <a:solidFill>
                <a:srgbClr val="5F5F5F"/>
              </a:solidFill>
              <a:latin typeface="Rockwell" panose="02060603020205020403" pitchFamily="18" charset="0"/>
              <a:ea typeface="Verdana" panose="020B0604030504040204" pitchFamily="34" charset="0"/>
              <a:cs typeface="Times New Roman" panose="02020603050405020304" pitchFamily="18" charset="0"/>
            </a:endParaRPr>
          </a:p>
          <a:p>
            <a:pPr marL="914400" lvl="1" indent="-457200">
              <a:lnSpc>
                <a:spcPct val="130000"/>
              </a:lnSpc>
              <a:buSzPts val="1000"/>
              <a:tabLst>
                <a:tab pos="685800" algn="l"/>
              </a:tabLst>
            </a:pPr>
            <a:r>
              <a:rPr lang="en-US" sz="2000" dirty="0">
                <a:solidFill>
                  <a:srgbClr val="2E1500"/>
                </a:solidFill>
                <a:latin typeface="Rockwell" panose="02060603020205020403" pitchFamily="18" charset="0"/>
                <a:ea typeface="Times New Roman" panose="02020603050405020304" pitchFamily="18" charset="0"/>
                <a:cs typeface="Times New Roman" panose="02020603050405020304" pitchFamily="18" charset="0"/>
              </a:rPr>
              <a:t>Haptic feedback: Interface with vibration motors or other tactile feedback devices for physical feedback.</a:t>
            </a:r>
            <a:endParaRPr lang="en-IN" sz="2000" dirty="0">
              <a:solidFill>
                <a:srgbClr val="5F5F5F"/>
              </a:solidFill>
              <a:latin typeface="Rockwell" panose="02060603020205020403" pitchFamily="18" charset="0"/>
              <a:ea typeface="Verdana" panose="020B0604030504040204" pitchFamily="34" charset="0"/>
              <a:cs typeface="Times New Roman" panose="02020603050405020304" pitchFamily="18" charset="0"/>
            </a:endParaRPr>
          </a:p>
          <a:p>
            <a:pPr marL="914400" lvl="1" indent="-457200">
              <a:lnSpc>
                <a:spcPct val="130000"/>
              </a:lnSpc>
              <a:spcAft>
                <a:spcPts val="1000"/>
              </a:spcAft>
              <a:buSzPts val="1000"/>
              <a:tabLst>
                <a:tab pos="685800" algn="l"/>
              </a:tabLst>
            </a:pPr>
            <a:r>
              <a:rPr lang="en-US" sz="2000" dirty="0">
                <a:solidFill>
                  <a:srgbClr val="2E1500"/>
                </a:solidFill>
                <a:latin typeface="Rockwell" panose="02060603020205020403" pitchFamily="18" charset="0"/>
                <a:ea typeface="Times New Roman" panose="02020603050405020304" pitchFamily="18" charset="0"/>
                <a:cs typeface="Times New Roman" panose="02020603050405020304" pitchFamily="18" charset="0"/>
              </a:rPr>
              <a:t>Integrate feedback mechanisms into the software based on gesture recognition results</a:t>
            </a:r>
            <a:r>
              <a:rPr lang="en-US" sz="2000" b="1" dirty="0">
                <a:solidFill>
                  <a:srgbClr val="2E1500"/>
                </a:solidFill>
                <a:latin typeface="Rockwell" panose="02060603020205020403" pitchFamily="18" charset="0"/>
                <a:ea typeface="Times New Roman" panose="02020603050405020304" pitchFamily="18" charset="0"/>
                <a:cs typeface="Times New Roman" panose="02020603050405020304" pitchFamily="18" charset="0"/>
              </a:rPr>
              <a:t>.</a:t>
            </a:r>
            <a:endParaRPr lang="en-IN" sz="2000" b="1" dirty="0">
              <a:solidFill>
                <a:srgbClr val="5F5F5F"/>
              </a:solidFill>
              <a:latin typeface="Rockwell" panose="02060603020205020403" pitchFamily="18" charset="0"/>
              <a:ea typeface="Verdana" panose="020B0604030504040204" pitchFamily="34" charset="0"/>
              <a:cs typeface="Times New Roman" panose="02020603050405020304" pitchFamily="18" charset="0"/>
            </a:endParaRPr>
          </a:p>
          <a:p>
            <a:pPr indent="0">
              <a:lnSpc>
                <a:spcPct val="130000"/>
              </a:lnSpc>
              <a:spcAft>
                <a:spcPts val="1000"/>
              </a:spcAft>
              <a:buSzPts val="1000"/>
              <a:buNone/>
              <a:tabLst>
                <a:tab pos="685800" algn="l"/>
              </a:tabLst>
            </a:pPr>
            <a:endParaRPr lang="en-IN" b="1" dirty="0">
              <a:solidFill>
                <a:srgbClr val="5F5F5F"/>
              </a:solidFill>
              <a:latin typeface="Rockwell" panose="02060603020205020403" pitchFamily="18" charset="0"/>
              <a:ea typeface="Verdana" panose="020B0604030504040204" pitchFamily="34" charset="0"/>
              <a:cs typeface="Times New Roman" panose="02020603050405020304" pitchFamily="18" charset="0"/>
            </a:endParaRPr>
          </a:p>
          <a:p>
            <a:pPr marL="457200" indent="-457200">
              <a:buFont typeface="+mj-lt"/>
              <a:buAutoNum type="arabicPeriod" startAt="4"/>
            </a:pPr>
            <a:endParaRPr lang="en-IN" b="1" dirty="0">
              <a:latin typeface="Rockwell" panose="02060603020205020403" pitchFamily="18" charset="0"/>
              <a:cs typeface="Times New Roman" panose="02020603050405020304" pitchFamily="18" charset="0"/>
            </a:endParaRPr>
          </a:p>
        </p:txBody>
      </p:sp>
    </p:spTree>
    <p:extLst>
      <p:ext uri="{BB962C8B-B14F-4D97-AF65-F5344CB8AC3E}">
        <p14:creationId xmlns:p14="http://schemas.microsoft.com/office/powerpoint/2010/main" val="3750854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325363" y="202521"/>
            <a:ext cx="9879437" cy="980844"/>
          </a:xfrm>
        </p:spPr>
        <p:txBody>
          <a:bodyPr/>
          <a:lstStyle/>
          <a:p>
            <a:pPr algn="ctr"/>
            <a:r>
              <a:rPr lang="en-US" sz="5000" dirty="0"/>
              <a:t>Work flow</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
        <p:nvSpPr>
          <p:cNvPr id="10" name="Rectangle: Rounded Corners 9">
            <a:extLst>
              <a:ext uri="{FF2B5EF4-FFF2-40B4-BE49-F238E27FC236}">
                <a16:creationId xmlns:a16="http://schemas.microsoft.com/office/drawing/2014/main" id="{DA648FEB-3A79-93E0-E093-93480FC498D1}"/>
              </a:ext>
            </a:extLst>
          </p:cNvPr>
          <p:cNvSpPr/>
          <p:nvPr/>
        </p:nvSpPr>
        <p:spPr>
          <a:xfrm>
            <a:off x="684858" y="1740310"/>
            <a:ext cx="3082413" cy="18140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Start : Hand Sensing/Recognition by IR Sensor</a:t>
            </a:r>
            <a:endParaRPr lang="en-IN" dirty="0">
              <a:ln w="0"/>
              <a:solidFill>
                <a:schemeClr val="tx1"/>
              </a:solidFill>
              <a:effectLst>
                <a:outerShdw blurRad="38100" dist="19050" dir="2700000" algn="tl" rotWithShape="0">
                  <a:schemeClr val="dk1">
                    <a:alpha val="40000"/>
                  </a:schemeClr>
                </a:outerShdw>
              </a:effectLst>
            </a:endParaRPr>
          </a:p>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11" name="Rectangle: Rounded Corners 10">
            <a:extLst>
              <a:ext uri="{FF2B5EF4-FFF2-40B4-BE49-F238E27FC236}">
                <a16:creationId xmlns:a16="http://schemas.microsoft.com/office/drawing/2014/main" id="{1578EC6E-7DF2-569C-0F90-5A19964FFEB9}"/>
              </a:ext>
            </a:extLst>
          </p:cNvPr>
          <p:cNvSpPr/>
          <p:nvPr/>
        </p:nvSpPr>
        <p:spPr>
          <a:xfrm>
            <a:off x="4554792" y="1740310"/>
            <a:ext cx="3082413" cy="18140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n w="0"/>
                <a:solidFill>
                  <a:schemeClr val="tx1"/>
                </a:solidFill>
                <a:effectLst>
                  <a:outerShdw blurRad="38100" dist="19050" dir="2700000" algn="tl" rotWithShape="0">
                    <a:schemeClr val="dk1">
                      <a:alpha val="40000"/>
                    </a:schemeClr>
                  </a:outerShdw>
                </a:effectLst>
              </a:rPr>
              <a:t>Initailize : Configure the raspberry Pi GPIO pins</a:t>
            </a:r>
            <a:endParaRPr lang="en-IN" dirty="0">
              <a:ln w="0"/>
              <a:solidFill>
                <a:schemeClr val="tx1"/>
              </a:solidFill>
              <a:effectLst>
                <a:outerShdw blurRad="38100" dist="19050" dir="2700000" algn="tl" rotWithShape="0">
                  <a:schemeClr val="dk1">
                    <a:alpha val="40000"/>
                  </a:schemeClr>
                </a:outerShdw>
              </a:effectLst>
            </a:endParaRPr>
          </a:p>
        </p:txBody>
      </p:sp>
      <p:sp>
        <p:nvSpPr>
          <p:cNvPr id="12" name="Rectangle: Rounded Corners 11">
            <a:extLst>
              <a:ext uri="{FF2B5EF4-FFF2-40B4-BE49-F238E27FC236}">
                <a16:creationId xmlns:a16="http://schemas.microsoft.com/office/drawing/2014/main" id="{204EECC4-EC8C-A4EA-9A13-6DB48186051B}"/>
              </a:ext>
            </a:extLst>
          </p:cNvPr>
          <p:cNvSpPr/>
          <p:nvPr/>
        </p:nvSpPr>
        <p:spPr>
          <a:xfrm>
            <a:off x="684857" y="4414684"/>
            <a:ext cx="3082413" cy="18140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n w="0"/>
                <a:solidFill>
                  <a:schemeClr val="tx1"/>
                </a:solidFill>
                <a:effectLst>
                  <a:outerShdw blurRad="38100" dist="19050" dir="2700000" algn="tl" rotWithShape="0">
                    <a:schemeClr val="dk1">
                      <a:alpha val="40000"/>
                    </a:schemeClr>
                  </a:outerShdw>
                </a:effectLst>
              </a:rPr>
              <a:t>Wait For User Input </a:t>
            </a:r>
            <a:endParaRPr lang="en-IN" dirty="0">
              <a:ln w="0"/>
              <a:solidFill>
                <a:schemeClr val="tx1"/>
              </a:solidFill>
              <a:effectLst>
                <a:outerShdw blurRad="38100" dist="19050" dir="2700000" algn="tl" rotWithShape="0">
                  <a:schemeClr val="dk1">
                    <a:alpha val="40000"/>
                  </a:schemeClr>
                </a:outerShdw>
              </a:effectLst>
            </a:endParaRPr>
          </a:p>
        </p:txBody>
      </p:sp>
      <p:sp>
        <p:nvSpPr>
          <p:cNvPr id="13" name="Rectangle: Rounded Corners 12">
            <a:extLst>
              <a:ext uri="{FF2B5EF4-FFF2-40B4-BE49-F238E27FC236}">
                <a16:creationId xmlns:a16="http://schemas.microsoft.com/office/drawing/2014/main" id="{E3A462AF-A8F0-3C52-25A4-8C01A654977F}"/>
              </a:ext>
            </a:extLst>
          </p:cNvPr>
          <p:cNvSpPr/>
          <p:nvPr/>
        </p:nvSpPr>
        <p:spPr>
          <a:xfrm>
            <a:off x="4554793" y="4414683"/>
            <a:ext cx="3082413" cy="18140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n w="0"/>
                <a:solidFill>
                  <a:schemeClr val="tx1"/>
                </a:solidFill>
                <a:effectLst>
                  <a:outerShdw blurRad="38100" dist="19050" dir="2700000" algn="tl" rotWithShape="0">
                    <a:schemeClr val="dk1">
                      <a:alpha val="40000"/>
                    </a:schemeClr>
                  </a:outerShdw>
                </a:effectLst>
              </a:rPr>
              <a:t>ACTIVE VOICE OUTPUT: Trigger voice output , convert message to speech</a:t>
            </a:r>
            <a:endParaRPr lang="en-IN" dirty="0">
              <a:ln w="0"/>
              <a:solidFill>
                <a:schemeClr val="tx1"/>
              </a:solidFill>
              <a:effectLst>
                <a:outerShdw blurRad="38100" dist="19050" dir="2700000" algn="tl" rotWithShape="0">
                  <a:schemeClr val="dk1">
                    <a:alpha val="40000"/>
                  </a:schemeClr>
                </a:outerShdw>
              </a:effectLst>
            </a:endParaRPr>
          </a:p>
        </p:txBody>
      </p:sp>
      <p:sp>
        <p:nvSpPr>
          <p:cNvPr id="14" name="Rectangle: Rounded Corners 13">
            <a:extLst>
              <a:ext uri="{FF2B5EF4-FFF2-40B4-BE49-F238E27FC236}">
                <a16:creationId xmlns:a16="http://schemas.microsoft.com/office/drawing/2014/main" id="{8F79F63D-2A9F-A58C-9B61-AB91028333CE}"/>
              </a:ext>
            </a:extLst>
          </p:cNvPr>
          <p:cNvSpPr/>
          <p:nvPr/>
        </p:nvSpPr>
        <p:spPr>
          <a:xfrm>
            <a:off x="8343612" y="4414684"/>
            <a:ext cx="3082413" cy="18140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n w="0"/>
                <a:solidFill>
                  <a:schemeClr val="tx1"/>
                </a:solidFill>
                <a:effectLst>
                  <a:outerShdw blurRad="38100" dist="19050" dir="2700000" algn="tl" rotWithShape="0">
                    <a:schemeClr val="dk1">
                      <a:alpha val="40000"/>
                    </a:schemeClr>
                  </a:outerShdw>
                </a:effectLst>
              </a:rPr>
              <a:t>Python Program Processing</a:t>
            </a:r>
            <a:endParaRPr lang="en-IN" dirty="0">
              <a:ln w="0"/>
              <a:solidFill>
                <a:schemeClr val="tx1"/>
              </a:solidFill>
              <a:effectLst>
                <a:outerShdw blurRad="38100" dist="19050" dir="2700000" algn="tl" rotWithShape="0">
                  <a:schemeClr val="dk1">
                    <a:alpha val="40000"/>
                  </a:schemeClr>
                </a:outerShdw>
              </a:effectLst>
            </a:endParaRPr>
          </a:p>
        </p:txBody>
      </p:sp>
      <p:sp>
        <p:nvSpPr>
          <p:cNvPr id="15" name="Rectangle: Rounded Corners 14">
            <a:extLst>
              <a:ext uri="{FF2B5EF4-FFF2-40B4-BE49-F238E27FC236}">
                <a16:creationId xmlns:a16="http://schemas.microsoft.com/office/drawing/2014/main" id="{40096A34-23AB-3B1B-0BBC-7A284C30F92A}"/>
              </a:ext>
            </a:extLst>
          </p:cNvPr>
          <p:cNvSpPr/>
          <p:nvPr/>
        </p:nvSpPr>
        <p:spPr>
          <a:xfrm>
            <a:off x="8343613" y="1740307"/>
            <a:ext cx="3082413" cy="18140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n w="0"/>
                <a:solidFill>
                  <a:schemeClr val="tx1"/>
                </a:solidFill>
                <a:effectLst>
                  <a:outerShdw blurRad="38100" dist="19050" dir="2700000" algn="tl" rotWithShape="0">
                    <a:schemeClr val="dk1">
                      <a:alpha val="40000"/>
                    </a:schemeClr>
                  </a:outerShdw>
                </a:effectLst>
              </a:rPr>
              <a:t>Detect IR Signal</a:t>
            </a:r>
            <a:endParaRPr lang="en-IN" dirty="0">
              <a:ln w="0"/>
              <a:solidFill>
                <a:schemeClr val="tx1"/>
              </a:solidFill>
              <a:effectLst>
                <a:outerShdw blurRad="38100" dist="19050" dir="2700000" algn="tl" rotWithShape="0">
                  <a:schemeClr val="dk1">
                    <a:alpha val="40000"/>
                  </a:schemeClr>
                </a:outerShdw>
              </a:effectLst>
            </a:endParaRPr>
          </a:p>
        </p:txBody>
      </p:sp>
      <p:sp>
        <p:nvSpPr>
          <p:cNvPr id="17" name="Arrow: Right 16">
            <a:extLst>
              <a:ext uri="{FF2B5EF4-FFF2-40B4-BE49-F238E27FC236}">
                <a16:creationId xmlns:a16="http://schemas.microsoft.com/office/drawing/2014/main" id="{FA08BF86-C225-7CA4-2246-919EAD5D90A8}"/>
              </a:ext>
            </a:extLst>
          </p:cNvPr>
          <p:cNvSpPr/>
          <p:nvPr/>
        </p:nvSpPr>
        <p:spPr>
          <a:xfrm>
            <a:off x="3893574" y="2443316"/>
            <a:ext cx="580105" cy="447368"/>
          </a:xfrm>
          <a:prstGeom prst="right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80E54300-BBCB-456C-E476-5E8B75CC7994}"/>
              </a:ext>
            </a:extLst>
          </p:cNvPr>
          <p:cNvSpPr/>
          <p:nvPr/>
        </p:nvSpPr>
        <p:spPr>
          <a:xfrm rot="16200000">
            <a:off x="2003321" y="3728882"/>
            <a:ext cx="580105" cy="447368"/>
          </a:xfrm>
          <a:prstGeom prst="right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00D5D3E2-AB9A-6796-F2E7-8763FE1D612C}"/>
              </a:ext>
            </a:extLst>
          </p:cNvPr>
          <p:cNvSpPr/>
          <p:nvPr/>
        </p:nvSpPr>
        <p:spPr>
          <a:xfrm rot="10800000">
            <a:off x="3846404" y="5085734"/>
            <a:ext cx="580105" cy="447368"/>
          </a:xfrm>
          <a:prstGeom prst="right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958001BF-A0B3-D6D5-BA13-6C5ED77B300F}"/>
              </a:ext>
            </a:extLst>
          </p:cNvPr>
          <p:cNvSpPr/>
          <p:nvPr/>
        </p:nvSpPr>
        <p:spPr>
          <a:xfrm rot="10800000">
            <a:off x="7684373" y="5098025"/>
            <a:ext cx="580105" cy="447368"/>
          </a:xfrm>
          <a:prstGeom prst="right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Right 22">
            <a:extLst>
              <a:ext uri="{FF2B5EF4-FFF2-40B4-BE49-F238E27FC236}">
                <a16:creationId xmlns:a16="http://schemas.microsoft.com/office/drawing/2014/main" id="{E1B08AC8-CBA9-DA55-4B70-97C57FBBF633}"/>
              </a:ext>
            </a:extLst>
          </p:cNvPr>
          <p:cNvSpPr/>
          <p:nvPr/>
        </p:nvSpPr>
        <p:spPr>
          <a:xfrm rot="5400000">
            <a:off x="9594765" y="3760837"/>
            <a:ext cx="580105" cy="447368"/>
          </a:xfrm>
          <a:prstGeom prst="right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Right 23">
            <a:extLst>
              <a:ext uri="{FF2B5EF4-FFF2-40B4-BE49-F238E27FC236}">
                <a16:creationId xmlns:a16="http://schemas.microsoft.com/office/drawing/2014/main" id="{C63B88E5-AFB9-CC87-D1A8-12D93287AFBC}"/>
              </a:ext>
            </a:extLst>
          </p:cNvPr>
          <p:cNvSpPr/>
          <p:nvPr/>
        </p:nvSpPr>
        <p:spPr>
          <a:xfrm>
            <a:off x="7725691" y="2423648"/>
            <a:ext cx="580105" cy="447368"/>
          </a:xfrm>
          <a:prstGeom prst="right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69996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1268361" y="1740310"/>
            <a:ext cx="5589639" cy="3042316"/>
          </a:xfrm>
        </p:spPr>
        <p:txBody>
          <a:bodyPr/>
          <a:lstStyle/>
          <a:p>
            <a:pPr algn="ctr"/>
            <a:r>
              <a:rPr lang="en-US" sz="8600" dirty="0"/>
              <a:t>THANK you</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3913219759"/>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HAND GESTURE RECOGNITION AND VOICE CONVERSION SYSTEM FOR</Template>
  <TotalTime>2</TotalTime>
  <Words>493</Words>
  <Application>Microsoft Office PowerPoint</Application>
  <PresentationFormat>Widescreen</PresentationFormat>
  <Paragraphs>61</Paragraphs>
  <Slides>9</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Arial</vt:lpstr>
      <vt:lpstr>Arial Black</vt:lpstr>
      <vt:lpstr>Calibri</vt:lpstr>
      <vt:lpstr>Rockwell</vt:lpstr>
      <vt:lpstr>Rockwell (Body)</vt:lpstr>
      <vt:lpstr>Sabon Next LT</vt:lpstr>
      <vt:lpstr>Symbol</vt:lpstr>
      <vt:lpstr>Verdana</vt:lpstr>
      <vt:lpstr>Wingdings</vt:lpstr>
      <vt:lpstr>Custom</vt:lpstr>
      <vt:lpstr>HAND GESTURE RECOGNITION AND VOICE CONVERSION SYSTEM FOR DUMB PEOPLE</vt:lpstr>
      <vt:lpstr>Introduction</vt:lpstr>
      <vt:lpstr>ALGORITHM</vt:lpstr>
      <vt:lpstr>PowerPoint Presentation</vt:lpstr>
      <vt:lpstr>PROPOSED SOLUTION</vt:lpstr>
      <vt:lpstr>PowerPoint Presentation</vt:lpstr>
      <vt:lpstr>PowerPoint Presentation</vt:lpstr>
      <vt:lpstr>Work flow</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Hema Chandrika</dc:creator>
  <cp:lastModifiedBy>hema varni</cp:lastModifiedBy>
  <cp:revision>2</cp:revision>
  <dcterms:created xsi:type="dcterms:W3CDTF">2024-09-11T17:31:57Z</dcterms:created>
  <dcterms:modified xsi:type="dcterms:W3CDTF">2026-02-22T06:31:54Z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